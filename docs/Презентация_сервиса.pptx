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облема" id="{6E83D9B0-5210-30B2-E15E-E5FE11E2F8A3}">
          <p14:sldIdLst>
            <p14:sldId id="256"/>
            <p14:sldId id="257"/>
            <p14:sldId id="258"/>
            <p14:sldId id="259"/>
          </p14:sldIdLst>
        </p14:section>
        <p14:section name="Решение" id="{E9669532-9F5A-A502-8269-0DC66B1A615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Применение" id="{7F00EE02-FAE6-1FE6-E69A-C9149AC6B307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17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503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Деск предназначен для самостоятельного чтения.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6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61188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rgbClr val="CADCFC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606F"/>
                </a:solidFill>
              </a:rPr>
              <a:t>https://scout-argument.ru/invest-project-eval/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Оценка инвестпроектов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611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CADCFC"/>
                </a:solidFill>
              </a:rPr>
              <a:t>Онлайн-сервис, который за минуту отвечает «окупится или нет», а при необходимости разворачивается в полную финансовую модель для банка и инвесткомитета.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076895" y="640080"/>
            <a:ext cx="3566160" cy="548640"/>
          </a:xfrm>
          <a:prstGeom prst="roundRect">
            <a:avLst>
              <a:gd name="adj" fmla="val 16667"/>
            </a:avLst>
          </a:prstGeom>
          <a:solidFill>
            <a:srgbClr val="1F2A3C"/>
          </a:solidFill>
          <a:ln w="12700">
            <a:solidFill>
              <a:srgbClr val="1F2A3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 txBox="1"/>
          <p:nvPr/>
        </p:nvSpPr>
        <p:spPr>
          <a:xfrm>
            <a:off x="8214055" y="640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Бесплатно · без регистрации · в браузере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C8DFF"/>
                </a:solidFill>
              </a:rPr>
              <a:t>https://scout-argument.ru/invest-project-eval/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A96A3"/>
                </a:solidFill>
              </a:rPr>
              <a:t>Презентация для знакомства с сервисом · октябрь 2026 г.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Решение о вложении денег всё ещё принимают «на глаз» или через Excel на неделю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Три ситуации, которые повторяются в любой компании, где есть что вкладывать.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 txBox="1"/>
          <p:nvPr/>
        </p:nvSpPr>
        <p:spPr>
          <a:xfrm>
            <a:off x="777240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Собственник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«У меня две идеи: открыть вторую точку или купить линию. Считаю в голове, партнёр считает по-своему. Спорим неделю, цифр нет».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 txBox="1"/>
          <p:nvPr/>
        </p:nvSpPr>
        <p:spPr>
          <a:xfrm>
            <a:off x="4566818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Финансовый директор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«Банк просит модель с графиком кредита и DSCR. Собираю Excel на 20 листов, в формуле ошибка на третий день, защищать страшно».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7797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 txBox="1"/>
          <p:nvPr/>
        </p:nvSpPr>
        <p:spPr>
          <a:xfrm>
            <a:off x="8356397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Руководитель проекта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6397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«Бюджет защитил, а на вопрос «что будет, если выручка упадёт на 15 %» ответить нечем. Монте-Карло звучит как магия».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Общее у всех троих: нужен быстрый и обоснованный ответ, а инструмент либо слишком простой, либо слишком тяжёлый.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Во что обходится оценка «на глаз» и модель, собранная в спешке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Неделя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работы финансиста на одну модель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Каждый новый вариант проекта означает ещё несколько дней правок. Идеи, которые «не дошли до Excel», так и остаются непосчитанными.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 txBox="1"/>
          <p:nvPr/>
        </p:nvSpPr>
        <p:spPr>
          <a:xfrm>
            <a:off x="4612538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Отказ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банка или инвестора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Типичная причина: покрытие долга (DSCR) ниже норматива 1,2 или нет анализа чувствительности. Узнать об этом лучше до подачи заявки, а не после.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 txBox="1"/>
          <p:nvPr/>
        </p:nvSpPr>
        <p:spPr>
          <a:xfrm>
            <a:off x="8402117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Ошибка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 формуле, которую никто не заметил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Ссылка на не ту ячейку, забытая амортизация, налог с убытка. Решение принято по неверной цифре, и проверить это постфактум почти невозможно.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Цена ошибки растёт вместе с суммой вложений, а время на принятие решения, наоборот, сокращается.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Существующие инструменты закрывают либо скорость, либо глубину, но не обе задачи сразу</a:t>
            </a:r>
            <a:endParaRPr lang="en-US" sz="2800" dirty="0"/>
          </a:p>
        </p:txBody>
      </p:sp>
      <p:graphicFrame>
        <p:nvGraphicFramePr>
          <p:cNvPr id="5" name="Сравнение инструмент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Excel-шаблон из интернета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Финансовый консультант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Онлайн-калькулятор NPV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 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Время до первого ответа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часы — 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 — недели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Глубина: кредиты, амортизация, налоги, оборотный капитал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зависит от шаблона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полная, по уровням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рисков: что если, сценарии, Монте-Карло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редко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запросу, дорого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встроена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 ошибки в формулах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зависит от исполнителя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низкий, но мало считает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 покрыто тестами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Понятно нефинансисту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объяснения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с заключением словами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Готовый отчёт для банка или комитета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вручную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с формулами и Word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Стоимость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десятков тысяч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Сервис объединяет скорость калькулятора и глубину консультантской модели, оставаясь бесплатным и понятным.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Решение: онлайн-сервис, который растёт вместе с задачей — от экспресс-оценки до модели для банка</a:t>
            </a:r>
            <a:endParaRPr lang="en-US" sz="2800" dirty="0"/>
          </a:p>
        </p:txBody>
      </p:sp>
      <p:pic>
        <p:nvPicPr>
          <p:cNvPr id="3" name="Главная страница сервиса" descr="/tmp/claude-0/-home-user-invest-project-eval/cfb2f9eb-1ed1-598a-ae85-aefec36c7a96/scratchpad/shots/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50"/>
            <a:ext cx="6766560" cy="4229100"/>
          </a:xfrm>
          <a:prstGeom prst="rect">
            <a:avLst/>
          </a:prstGeom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581787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chemeClr val="tx2"/>
                </a:solidFill>
              </a:rPr>
              <a:t>Главная страница: каталог шаблонов, уровни, быстрый старт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589520" y="1463040"/>
            <a:ext cx="405353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Открывается в браузере, ничего устанавливать не нужно. Работает на компьютере и телефоне.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Начало с семи чисел: инвестиции, выручка, рост, затраты, срок, ставка, налог. Ответ сразу.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Та же модель углубляется по кнопке: кредиты, амортизация, оборотный капитал, стоимость бизнеса в конце.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Риски проверяются встроенными методами: что если, торнадо, сценарии, Монте-Карло.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 выходе Excel с живыми формулами и отчёт Word с графиками и заключением.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ИИ-ассистент проверяет допущения, объясняет результат и сам меняет модель по вашей просьбе.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Путь пользователя занимает пять шагов и укладывается в десять минут</a:t>
            </a:r>
            <a:endParaRPr lang="en-US" sz="2800" dirty="0"/>
          </a:p>
        </p:txBody>
      </p:sp>
      <p:pic>
        <p:nvPicPr>
          <p:cNvPr id="3" name="Схема пяти шагов" descr="/home/user/invest-project-eval/docs/img/b1-how-it-wo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18036"/>
            <a:ext cx="11094415" cy="10787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2"/>
          <p:cNvSpPr/>
          <p:nvPr/>
        </p:nvSpPr>
        <p:spPr>
          <a:xfrm>
            <a:off x="777240" y="31454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3"/>
          <p:cNvSpPr txBox="1"/>
          <p:nvPr/>
        </p:nvSpPr>
        <p:spPr>
          <a:xfrm>
            <a:off x="777240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Выбрать шаблон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Каталог слева. Для первого раза подходит «Экспресс-оценка проекта».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 секунд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13243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Shape 8"/>
          <p:cNvSpPr/>
          <p:nvPr/>
        </p:nvSpPr>
        <p:spPr>
          <a:xfrm>
            <a:off x="3041843" y="31454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 txBox="1"/>
          <p:nvPr/>
        </p:nvSpPr>
        <p:spPr>
          <a:xfrm>
            <a:off x="3041843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636203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Ввести цифры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041843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Свои или готовый пример. Ряды по годам заполняются формулой «база + рост» или вставкой из Excel.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41843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1–10 минут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77846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4"/>
          <p:cNvSpPr/>
          <p:nvPr/>
        </p:nvSpPr>
        <p:spPr>
          <a:xfrm>
            <a:off x="5306446" y="3145404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 txBox="1"/>
          <p:nvPr/>
        </p:nvSpPr>
        <p:spPr>
          <a:xfrm>
            <a:off x="5306446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900806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Увидеть результат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306446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Показатели пересчитываются при каждом изменении. Зелёная карточка хорошо, красная проблема.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306446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сразу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42449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0"/>
          <p:cNvSpPr/>
          <p:nvPr/>
        </p:nvSpPr>
        <p:spPr>
          <a:xfrm>
            <a:off x="7571049" y="3145404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1"/>
          <p:cNvSpPr txBox="1"/>
          <p:nvPr/>
        </p:nvSpPr>
        <p:spPr>
          <a:xfrm>
            <a:off x="7571049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165409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Проверить риски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571049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Вкладки «Чувствительность», «Сценарии», «Монте-Карло» показывают запас прочности.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571049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2–5 минут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607052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Shape 26"/>
          <p:cNvSpPr/>
          <p:nvPr/>
        </p:nvSpPr>
        <p:spPr>
          <a:xfrm>
            <a:off x="9835652" y="314540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7"/>
          <p:cNvSpPr txBox="1"/>
          <p:nvPr/>
        </p:nvSpPr>
        <p:spPr>
          <a:xfrm>
            <a:off x="9835652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0430012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Забрать отчёт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835652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Excel, Word, CSV или JSON. Вопросы ассистенту и заключение в отчёт.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835652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минута</a:t>
            </a:r>
            <a:endParaRPr lang="en-US" sz="1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Три уровня глубины: одна модель, которую можно углублять, не начиная заново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Переключатель в шапке сайта открывает дополнительные поля той же модели. Введённые данные сохраняются при переходе между уровнями.</a:t>
            </a:r>
            <a:endParaRPr lang="en-US" sz="1600" dirty="0"/>
          </a:p>
        </p:txBody>
      </p:sp>
      <p:pic>
        <p:nvPicPr>
          <p:cNvPr id="4" name="Схема трёх уровней" descr="/home/user/invest-project-eval/docs/img/b2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221" y="1874520"/>
            <a:ext cx="7657253" cy="1920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3"/>
          <p:cNvSpPr txBox="1"/>
          <p:nvPr/>
        </p:nvSpPr>
        <p:spPr>
          <a:xfrm>
            <a:off x="777240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Экспресс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Семь чисел. Ответ: NPV, IRR, индекс рентабельности, окупаемость, потребность в деньгах.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Отбор идей, разговор с партнёром, первая прикидка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38218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 txBox="1"/>
          <p:nvPr/>
        </p:nvSpPr>
        <p:spPr>
          <a:xfrm>
            <a:off x="4566818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Базовая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66818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Ряды по периодам, объекты инвестиций со сроком службы и амортизацией, налог. Полные расчётные листы и графики.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66818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Бизнес-план, защита бюджета, внутренний инвесткомитет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127797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1"/>
          <p:cNvSpPr txBox="1"/>
          <p:nvPr/>
        </p:nvSpPr>
        <p:spPr>
          <a:xfrm>
            <a:off x="8356397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Расширенная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56397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Кредиты и покрытие долга (DSCR), оборотный капитал, ликвидационная и терминальная стоимость, перенос убытков, FCFE, Монте-Карло.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356397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Заявка в банк, внешний инвестор, сделка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Внутри — та же структура, что у профессиональной Excel-модели, но собирает её сервис</a:t>
            </a:r>
            <a:endParaRPr lang="en-US" sz="2800" dirty="0"/>
          </a:p>
        </p:txBody>
      </p:sp>
      <p:pic>
        <p:nvPicPr>
          <p:cNvPr id="3" name="Схема структуры модели" descr="/home/user/invest-project-eval/docs/img/b3-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0531"/>
            <a:ext cx="6583680" cy="27253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124157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chemeClr val="tx2"/>
                </a:solidFill>
              </a:rPr>
              <a:t>Листы CapEx, Financing, Effect заполняете вы; CF и показатели считает сервис</a:t>
            </a:r>
            <a:endParaRPr lang="en-US" sz="1000" dirty="0"/>
          </a:p>
        </p:txBody>
      </p:sp>
      <p:pic>
        <p:nvPicPr>
          <p:cNvPr id="5" name="Карточки показателей" descr="/tmp/claude-0/-home-user-invest-project-eval/cfb2f9eb-1ed1-598a-ae85-aefec36c7a96/scratchpad/shots/kp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7869" y="4343400"/>
            <a:ext cx="4285222" cy="1920240"/>
          </a:xfrm>
          <a:prstGeom prst="rect">
            <a:avLst/>
          </a:prstGeom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7498080" y="137160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Показатели простыми словами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498080" y="1783080"/>
            <a:ext cx="414497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6202C"/>
                </a:solidFill>
              </a:rPr>
              <a:t>NPV — </a:t>
            </a:r>
            <a:r>
              <a:rPr lang="en-US" sz="1300" dirty="0">
                <a:solidFill>
                  <a:schemeClr val="tx1"/>
                </a:solidFill>
              </a:rPr>
              <a:t>сколько проект заработает сверх требуемой доходности, в сегодняшних деньгах. Хорошо, когда больше нуля.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6202C"/>
                </a:solidFill>
              </a:rPr>
              <a:t>IRR — </a:t>
            </a:r>
            <a:r>
              <a:rPr lang="en-US" sz="1300" dirty="0">
                <a:solidFill>
                  <a:schemeClr val="tx1"/>
                </a:solidFill>
              </a:rPr>
              <a:t>доходность проекта в процентах годовых. Сравнивайте со ставкой по кредиту или депозиту.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6202C"/>
                </a:solidFill>
              </a:rPr>
              <a:t>Срок окупаемости — </a:t>
            </a:r>
            <a:r>
              <a:rPr lang="en-US" sz="1300" dirty="0">
                <a:solidFill>
                  <a:schemeClr val="tx1"/>
                </a:solidFill>
              </a:rPr>
              <a:t>через сколько лет вложения вернутся: простой и с учётом стоимости денег во времени.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6202C"/>
                </a:solidFill>
              </a:rPr>
              <a:t>Потребность в деньгах — </a:t>
            </a:r>
            <a:r>
              <a:rPr lang="en-US" sz="1300" dirty="0">
                <a:solidFill>
                  <a:schemeClr val="tx1"/>
                </a:solidFill>
              </a:rPr>
              <a:t>максимум, который придётся вложить, пока проект не начнёт кормить себя сам.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6202C"/>
                </a:solidFill>
              </a:rPr>
              <a:t>DSCR — </a:t>
            </a:r>
            <a:r>
              <a:rPr lang="en-US" sz="1300" dirty="0">
                <a:solidFill>
                  <a:schemeClr val="tx1"/>
                </a:solidFill>
              </a:rPr>
              <a:t>во сколько раз поток покрывает платежи по кредиту. Банки хотят не меньше 1,2.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Проверка на прочность: сервис показывает, где граница безопасности и за чем следить</a:t>
            </a:r>
            <a:endParaRPr lang="en-US" sz="2800" dirty="0"/>
          </a:p>
        </p:txBody>
      </p:sp>
      <p:pic>
        <p:nvPicPr>
          <p:cNvPr id="3" name="Схема методов анализа рисков" descr="/home/user/invest-project-eval/docs/img/b4-ri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45118"/>
            <a:ext cx="4937760" cy="1773204"/>
          </a:xfrm>
          <a:prstGeom prst="rect">
            <a:avLst/>
          </a:prstGeom>
        </p:spPr>
      </p:pic>
      <p:pic>
        <p:nvPicPr>
          <p:cNvPr id="4" name="Результат Монте-Карло" descr="/tmp/claude-0/-home-user-invest-project-eval/cfb2f9eb-1ed1-598a-ae85-aefec36c7a96/scratchpad/shots/montecar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86527"/>
            <a:ext cx="4937760" cy="2673866"/>
          </a:xfrm>
          <a:prstGeom prst="rect">
            <a:avLst/>
          </a:prstGeom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6178681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chemeClr val="tx2"/>
                </a:solidFill>
              </a:rPr>
              <a:t>Монте-Карло: распределение NPV и вероятность убытка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5852160" y="1371600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3"/>
          <p:cNvSpPr txBox="1"/>
          <p:nvPr/>
        </p:nvSpPr>
        <p:spPr>
          <a:xfrm>
            <a:off x="6080760" y="1388697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«Что если» и торнадо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80760" y="1964769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Каждый фактор меняется по очереди. Видно, что бьёт сильнее: цена, объём, инвестиции или ставка.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852160" y="2587752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6"/>
          <p:cNvSpPr txBox="1"/>
          <p:nvPr/>
        </p:nvSpPr>
        <p:spPr>
          <a:xfrm>
            <a:off x="6080760" y="2604849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Пороговые значения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080760" y="3180921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На сколько процентов можно ошибиться в выручке или затратах, прежде чем проект уйдёт в минус.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852160" y="3803904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9"/>
          <p:cNvSpPr txBox="1"/>
          <p:nvPr/>
        </p:nvSpPr>
        <p:spPr>
          <a:xfrm>
            <a:off x="6080760" y="3821001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Сценарии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080760" y="4397073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Базовый, пессимистичный, оптимистичный с вероятностями. Итог: ожидаемое значение NPV.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852160" y="5020056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2"/>
          <p:cNvSpPr txBox="1"/>
          <p:nvPr/>
        </p:nvSpPr>
        <p:spPr>
          <a:xfrm>
            <a:off x="6080760" y="5037153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Монте-Карло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080760" y="5613225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Тысячи случайных пересчётов. Результат: вероятность убытка и диапазон, в который попадёт NPV с вероятностью 80 %.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ИИ-ассистент видит вашу модель, объясняет результат и сам вносит изменения по вашей просьбе</a:t>
            </a:r>
            <a:endParaRPr lang="en-US" sz="2800" dirty="0"/>
          </a:p>
        </p:txBody>
      </p:sp>
      <p:pic>
        <p:nvPicPr>
          <p:cNvPr id="3" name="Диалог с ассистентом" descr="/tmp/claude-0/-home-user-invest-project-eval/cfb2f9eb-1ed1-598a-ae85-aefec36c7a96/scratchpad/shots/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5120640" cy="4578773"/>
          </a:xfrm>
          <a:prstGeom prst="rect">
            <a:avLst/>
          </a:prstGeom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596866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chemeClr val="tx2"/>
                </a:solidFill>
              </a:rPr>
              <a:t>Ассистент предложил пессимистичный сценарий, изменения применены, модель пересчитана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1417320"/>
            <a:ext cx="56080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Проверит допущения: «рост выручки 60 % в год выглядит оптимистично, обоснуйте драйверами».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Объяснит, почему IRR ниже ставки или что значит отрицательный NPV без терминальной стоимости.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Подберёт ставку дисконтирования по CAPM и WACC под отрасль и размер бизнеса.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Построит сценарий и изменит модель: вы видите список изменений, нажимаете «Применить», всё пересчитывается.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Напишет заключение для инвесткомитета, которое одной кнопкой попадает в отчёт Word.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035040" y="4846320"/>
            <a:ext cx="5608015" cy="1371600"/>
          </a:xfrm>
          <a:prstGeom prst="roundRect">
            <a:avLst>
              <a:gd name="adj" fmla="val 80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4"/>
          <p:cNvSpPr txBox="1"/>
          <p:nvPr/>
        </p:nvSpPr>
        <p:spPr>
          <a:xfrm>
            <a:off x="6263640" y="4983480"/>
            <a:ext cx="5150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Важно: ассистент советует, а считает всегда расчётный движок сервиса. Без подключения к ИИ работает встроенная «Диагностика», а подключить можно любую модель: учебную Qwen, OpenAI, Claude или корпоративный прокси.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Не только проекты: 12 готовых инструментов для задач финансовой службы</a:t>
            </a:r>
            <a:endParaRPr lang="en-US" sz="2800" dirty="0"/>
          </a:p>
        </p:txBody>
      </p:sp>
      <p:pic>
        <p:nvPicPr>
          <p:cNvPr id="3" name="Схема библиотеки шаблонов" descr="/home/user/invest-project-eval/docs/img/b5-libr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90077"/>
            <a:ext cx="6035040" cy="440936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49440" y="1371600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 txBox="1"/>
          <p:nvPr/>
        </p:nvSpPr>
        <p:spPr>
          <a:xfrm>
            <a:off x="7178040" y="1394637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Инвестиции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1970709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экспресс-оценка, универсальная модель, сравнение проектов, WACC, реальная ставка кредита, лизинг или кредит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949440" y="2587752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 txBox="1"/>
          <p:nvPr/>
        </p:nvSpPr>
        <p:spPr>
          <a:xfrm>
            <a:off x="7178040" y="2610789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Анализ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3186861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точка безубыточности, факторный анализ прибыли, план-факт бюджета с ABC-ранжированием отклонений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3803904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8"/>
          <p:cNvSpPr txBox="1"/>
          <p:nvPr/>
        </p:nvSpPr>
        <p:spPr>
          <a:xfrm>
            <a:off x="7178040" y="3826941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Бюджеты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403013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БДР, БДДС и прогнозный баланс на 12 месяцев с лагами оплаты и проверкой «актив = пассив»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5020056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1"/>
          <p:cNvSpPr txBox="1"/>
          <p:nvPr/>
        </p:nvSpPr>
        <p:spPr>
          <a:xfrm>
            <a:off x="7178040" y="5043093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Отчёты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5619165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оценка стоимости бизнеса методом DCF, финансовые коэффициенты с нормативами и моделью Дюпон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Результат в руках за минуту: Excel с формулами, отчёт Word, CSV и файл модели</a:t>
            </a:r>
            <a:endParaRPr lang="en-US" sz="2800" dirty="0"/>
          </a:p>
        </p:txBody>
      </p:sp>
      <p:pic>
        <p:nvPicPr>
          <p:cNvPr id="3" name="Вкладка экспорта" descr="/tmp/claude-0/-home-user-invest-project-eval/cfb2f9eb-1ed1-598a-ae85-aefec36c7a96/scratchpad/shots/ex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42329"/>
            <a:ext cx="6766560" cy="2053102"/>
          </a:xfrm>
          <a:prstGeom prst="rect">
            <a:avLst/>
          </a:prstGeom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pic>
      <p:pic>
        <p:nvPicPr>
          <p:cNvPr id="4" name="Графики модели" descr="/tmp/claude-0/-home-user-invest-project-eval/cfb2f9eb-1ed1-598a-ae85-aefec36c7a96/scratchpad/shots/cha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5314"/>
            <a:ext cx="6766560" cy="1891993"/>
          </a:xfrm>
          <a:prstGeom prst="rect">
            <a:avLst/>
          </a:prstGeom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5785595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chemeClr val="tx2"/>
                </a:solidFill>
              </a:rPr>
              <a:t>Графики попадают в отчёт Word вместе с таблицами и заключением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7680960" y="1371600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3"/>
          <p:cNvSpPr txBox="1"/>
          <p:nvPr/>
        </p:nvSpPr>
        <p:spPr>
          <a:xfrm>
            <a:off x="7909560" y="1388697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Excel (.xlsx)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1875703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Все расчётные листы, показатели, чувствительность, сценарии, Монте-Карло. В листе денежных потоков живые формулы: ЧПС, ВСД, PI.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680960" y="2587752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6"/>
          <p:cNvSpPr txBox="1"/>
          <p:nvPr/>
        </p:nvSpPr>
        <p:spPr>
          <a:xfrm>
            <a:off x="7909560" y="2604849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Word (.docx)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909560" y="3091855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Титул, таблица показателей с оценкой, заключение и риски, графики, расчётные таблицы, исходные данные.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680960" y="3803904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9"/>
          <p:cNvSpPr txBox="1"/>
          <p:nvPr/>
        </p:nvSpPr>
        <p:spPr>
          <a:xfrm>
            <a:off x="7909560" y="3821001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CSV и JSON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4308007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Любая таблица отдельно для BI; вся модель файлом, чтобы открыть позже или передать коллеге.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80960" y="5020056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2"/>
          <p:cNvSpPr txBox="1"/>
          <p:nvPr/>
        </p:nvSpPr>
        <p:spPr>
          <a:xfrm>
            <a:off x="7909560" y="5037153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Импорт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909560" y="5524159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Ряды по годам вставляются из Excel через буфер или загружаются файлом с автосопоставлением строк.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Как это выглядит в работе: четыре роли, четыре задачи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 txBox="1"/>
          <p:nvPr/>
        </p:nvSpPr>
        <p:spPr>
          <a:xfrm>
            <a:off x="777240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Собственник выбирает между двумя идеями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спор с партнёром «по ощущениям». Стало: две экспресс-оценки за пять минут. Первая идея окупается за 2,5 года с IRR 38 %, вторая за 4,8 года с IRR 19 % при ставке 20 %. Решение принято по цифрам.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3008" y="141732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 txBox="1"/>
          <p:nvPr/>
        </p:nvSpPr>
        <p:spPr>
          <a:xfrm>
            <a:off x="6461608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Финансовый директор готовит заявку в банк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61608" y="219456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неделя на Excel и страх ошибки. Стало: расширенная модель с кредитом за час. Сервис показал DSCR 0,9 в первый год; отсрочка тела увеличена до двух лет, DSCR 1,3. В банк ушёл Excel с формулами и Word-отчёт.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 txBox="1"/>
          <p:nvPr/>
        </p:nvSpPr>
        <p:spPr>
          <a:xfrm>
            <a:off x="777240" y="417880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Руководитель проекта защищает бюджет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75488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нет ответа на «что если». Стало: торнадо показал, что главный риск цена, а не инвестиции: минус 9 % обнуляет NPV. Монте-Карло: вероятность убытка 22 %. Ассистент предложил меры и написал заключение для презентации.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 txBox="1"/>
          <p:nvPr/>
        </p:nvSpPr>
        <p:spPr>
          <a:xfrm>
            <a:off x="6461608" y="417880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Экономист ищет причину отклонения прибыли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75488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«прибыль упала, непонятно почему». Стало: факторный анализ за две минуты: минус 3,2 млн из-за объёма, плюс 2,1 млн из-за цены, минус 0,9 млн из-за затрат. Водопадная диаграмма ушла в отчёт.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301641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tx2"/>
                </a:solidFill>
              </a:rPr>
              <a:t>Цифры в примерах иллюстративные: они показывают, какие вопросы сервис закрывает и как быстро.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Чему можно доверять: методика, проверяемые расчёты и данные, которые остаются у вас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 txBox="1"/>
          <p:nvPr/>
        </p:nvSpPr>
        <p:spPr>
          <a:xfrm>
            <a:off x="777240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Проверенная методика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Структура модели повторяет методику «Как оценить инвестиционный проект» Системы Финансовый директор: листы CapEx, Financing, Effect, CF и анализ эффективности. Показатели общепринятые: NPV, IRR, PI, PP, DPP, WACC.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3008" y="141732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 txBox="1"/>
          <p:nvPr/>
        </p:nvSpPr>
        <p:spPr>
          <a:xfrm>
            <a:off x="6461608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Контрольные примеры воспроизводятся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61608" y="219456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Расчётное ядро покрыто автоматическими тестами на известных примерах из открытых статей: NPV, аннуитет, реальная ставка кредита, окупаемость, сходимость баланса. Любое изменение кода проверяется до публикации.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 txBox="1"/>
          <p:nvPr/>
        </p:nvSpPr>
        <p:spPr>
          <a:xfrm>
            <a:off x="777240" y="399592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Данные не покидают браузер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57200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Сервис статический: без сервера, базы и регистрации. Расчёты, Excel и Word формируются на вашем устройстве. Единственный исходящий запрос к ИИ, и только когда вы пишете ассистенту.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379476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 txBox="1"/>
          <p:nvPr/>
        </p:nvSpPr>
        <p:spPr>
          <a:xfrm>
            <a:off x="6461608" y="399592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Честно об ограничениях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57200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НДС, валютные курсы и отраслевые налоговые льготы не моделируются. Лизинг упрощён. Выводы ИИ носят рекомендательный характер и не заменяют экспертизу финансиста.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Варианты использования: от бесплатной версии на сайте до корпоративного внедрения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 txBox="1"/>
          <p:nvPr/>
        </p:nvSpPr>
        <p:spPr>
          <a:xfrm>
            <a:off x="777240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Открытая версия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Сайт доступен бесплатно, без регистрации. Все шаблоны, анализ рисков, экспорт и ассистент с учебной моделью.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Для себя и команды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0824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 txBox="1"/>
          <p:nvPr/>
        </p:nvSpPr>
        <p:spPr>
          <a:xfrm>
            <a:off x="3619424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Встраивание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619424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Сервис вставляется на ваш сайт или в Tilda одной строкой. Ссылки ведут сразу на нужный шаблон с вашим примером.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19424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Для партнёров и клиентов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 txBox="1"/>
          <p:nvPr/>
        </p:nvSpPr>
        <p:spPr>
          <a:xfrm>
            <a:off x="6461608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Корпоративная версия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Своя модель ИИ через защищённый прокси, свои шаблоны и примеры под отрасль, фирменный стиль, развёртывание во внутренней сети.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Для компаний и банков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75191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 txBox="1"/>
          <p:nvPr/>
        </p:nvSpPr>
        <p:spPr>
          <a:xfrm>
            <a:off x="9303791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Обучение и сопровождение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303791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Разбор методики на ваших проектах, настройка ставок и допущений, помощь с заявками в банк и защитой перед инвесторами.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03791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Для финансовых служб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Условия корпоративной версии и сопровождения обсуждаются индивидуально: напишите нам, и мы предложим вариант под вашу задачу.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начать прямо сейчас: три шага и две минуты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002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Откройте сайт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98424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Любой браузер, компьютер или телефон. Ничего устанавливать не нужно.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34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Нажмите «Экспресс-оценка за минуту»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21868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Выберите пример и замените цифры на свои. Показатели появятся сразу.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 txBox="1"/>
          <p:nvPr/>
        </p:nvSpPr>
        <p:spPr>
          <a:xfrm>
            <a:off x="5486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069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Скачайте отчёт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45312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Вкладка «Отчёт и экспорт»: Excel с формулами или Word для инвесткомитета.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4C8DFF"/>
                </a:solidFill>
              </a:rPr>
              <a:t>https://scout-argument.ru/invest-project-eval/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978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6A3"/>
                </a:solidFill>
              </a:rPr>
              <a:t>Готовые ссылки: экспресс-оценка #/t/express?sample=cafe · универсальная модель #/t/project?sample=farm · документация и методика в репозитории GitHub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34095" y="1463040"/>
            <a:ext cx="3108960" cy="393192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18" name="QR-код сайта" descr="/tmp/ip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15" y="1645920"/>
            <a:ext cx="2560320" cy="25603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716975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Наведите камеру, чтобы открыть сервис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716975" y="4754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Бесплатно · без регистрации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vestEval">
  <a:themeElements>
    <a:clrScheme name="InvestEval">
      <a:dk1>
        <a:srgbClr val="16202C"/>
      </a:dk1>
      <a:lt1>
        <a:srgbClr val="FFFFFF"/>
      </a:lt1>
      <a:dk2>
        <a:srgbClr val="51606F"/>
      </a:dk2>
      <a:lt2>
        <a:srgbClr val="EEF2F8"/>
      </a:lt2>
      <a:accent1>
        <a:srgbClr val="1F6FEB"/>
      </a:accent1>
      <a:accent2>
        <a:srgbClr val="6A4CFF"/>
      </a:accent2>
      <a:accent3>
        <a:srgbClr val="1A7F4B"/>
      </a:accent3>
      <a:accent4>
        <a:srgbClr val="F2994A"/>
      </a:accent4>
      <a:accent5>
        <a:srgbClr val="C0392B"/>
      </a:accent5>
      <a:accent6>
        <a:srgbClr val="B7791F"/>
      </a:accent6>
      <a:hlink>
        <a:srgbClr val="1F6FEB"/>
      </a:hlink>
      <a:folHlink>
        <a:srgbClr val="6A4CFF"/>
      </a:folHlink>
    </a:clrScheme>
    <a:fontScheme name="InvestEv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2020</Words>
  <Application>Microsoft Office PowerPoint</Application>
  <PresentationFormat>Широкоэкранный</PresentationFormat>
  <Paragraphs>231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InvestEval</vt:lpstr>
      <vt:lpstr>Оценка инвестпроектов</vt:lpstr>
      <vt:lpstr>Решение о вложении денег всё ещё принимают «на глаз» или через Excel на неделю</vt:lpstr>
      <vt:lpstr>Во что обходится оценка «на глаз» и модель, собранная в спешке</vt:lpstr>
      <vt:lpstr>Существующие инструменты закрывают либо скорость, либо глубину, но не обе задачи сразу</vt:lpstr>
      <vt:lpstr>Решение: онлайн-сервис, который растёт вместе с задачей — от экспресс-оценки до модели для банка</vt:lpstr>
      <vt:lpstr>Путь пользователя занимает пять шагов и укладывается в десять минут</vt:lpstr>
      <vt:lpstr>Три уровня глубины: одна модель, которую можно углублять, не начиная заново</vt:lpstr>
      <vt:lpstr>Внутри — та же структура, что у профессиональной Excel-модели, но собирает её сервис</vt:lpstr>
      <vt:lpstr>Проверка на прочность: сервис показывает, где граница безопасности и за чем следить</vt:lpstr>
      <vt:lpstr>ИИ-ассистент видит вашу модель, объясняет результат и сам вносит изменения по вашей просьбе</vt:lpstr>
      <vt:lpstr>Не только проекты: 12 готовых инструментов для задач финансовой службы</vt:lpstr>
      <vt:lpstr>Результат в руках за минуту: Excel с формулами, отчёт Word, CSV и файл модели</vt:lpstr>
      <vt:lpstr>Как это выглядит в работе: четыре роли, четыре задачи</vt:lpstr>
      <vt:lpstr>Чему можно доверять: методика, проверяемые расчёты и данные, которые остаются у вас</vt:lpstr>
      <vt:lpstr>Варианты использования: от бесплатной версии на сайте до корпоративного внедрения</vt:lpstr>
      <vt:lpstr>Как начать прямо сейчас: три шага и две минуты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Оценка инвестпроектов — презентация сервиса</dc:title>
  <dc:subject>PptxGenJS Presentation</dc:subject>
  <dc:creator>invest-project-eval</dc:creator>
  <cp:lastModifiedBy>a81555</cp:lastModifiedBy>
  <cp:revision>6</cp:revision>
  <dcterms:created xsi:type="dcterms:W3CDTF">2026-10-09T22:54:33Z</dcterms:created>
  <dcterms:modified xsi:type="dcterms:W3CDTF">2026-10-09T23:06:23Z</dcterms:modified>
</cp:coreProperties>
</file>